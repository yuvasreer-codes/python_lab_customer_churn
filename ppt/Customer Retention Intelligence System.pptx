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A3E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32A3E"/>
                </a:solidFill>
                <a:latin typeface="Cambria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32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7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F2E5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ENGINEERING PROJECT  ·  TELECOM ANALYTICS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that turns raw CRM records into daily, actionable churn predictions — from Python data cleaning to a production ML API.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497433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5440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modeled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48920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30752" y="497433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5440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phases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48920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497433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5440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modules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48920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7152" y="497433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217152" y="5440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columns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IBM / Telco Customer Churn  ·  kaggle.com/datasets/suraj520/telecom-churn-dataset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Quietly Eating Your Revenue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teams often find out a customer is gone only after the cancellation call. By then, the decision is already made.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 the base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churned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343400"/>
            <a:ext cx="2651760" cy="0"/>
          </a:xfrm>
          <a:prstGeom prst="line">
            <a:avLst/>
          </a:prstGeom>
          <a:noFill/>
          <a:ln w="12700">
            <a:solidFill>
              <a:srgbClr val="3C5A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526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on month-to-month contracts — nearly 15x the two-year rate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72237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1456" y="24505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519" y="2586655"/>
            <a:ext cx="294803" cy="29480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532120" y="22951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early-warning system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26791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discovered after the fact, not predicted ahead of it.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3520440"/>
            <a:ext cx="72237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91456" y="38221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1" descr="icons/file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19" y="3958255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532120" y="36667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made on gut feel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532120" y="40507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outreach isn’t prioritized by who is actually at risk.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434840" y="4892040"/>
            <a:ext cx="72237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91456" y="51937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19" y="5329855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532120" y="50383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trapped in spreadsheets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532120" y="54223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live in one-off CSV exports instead of a live system.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 Layer Covered.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notebook demo — a production-style system that carries a single customer record from raw CSV all the way to a live risk 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7484" y="2331720"/>
            <a:ext cx="1874520" cy="201168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505560" y="262432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cod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568" y="2782336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7484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70636" y="377647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050" dirty="0"/>
          </a:p>
        </p:txBody>
      </p:sp>
      <p:pic>
        <p:nvPicPr>
          <p:cNvPr id="10" name="Image 1" descr="icons/arrowrigh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292" y="322783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028036" y="2331720"/>
            <a:ext cx="1874520" cy="2011680"/>
          </a:xfrm>
          <a:prstGeom prst="roundRect">
            <a:avLst>
              <a:gd name="adj" fmla="val 4390"/>
            </a:avLst>
          </a:prstGeom>
          <a:solidFill>
            <a:srgbClr val="1C7293"/>
          </a:solidFill>
          <a:ln/>
        </p:spPr>
      </p:sp>
      <p:sp>
        <p:nvSpPr>
          <p:cNvPr id="12" name="Shape 8"/>
          <p:cNvSpPr/>
          <p:nvPr/>
        </p:nvSpPr>
        <p:spPr>
          <a:xfrm>
            <a:off x="3636112" y="262432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icons/databas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0" y="2782336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28036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101188" y="377647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ORM</a:t>
            </a:r>
            <a:endParaRPr lang="en-US" sz="1050" dirty="0"/>
          </a:p>
        </p:txBody>
      </p:sp>
      <p:pic>
        <p:nvPicPr>
          <p:cNvPr id="16" name="Image 3" descr="icons/arrowrigh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844" y="3227832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58588" y="2331720"/>
            <a:ext cx="1874520" cy="201168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</p:sp>
      <p:sp>
        <p:nvSpPr>
          <p:cNvPr id="18" name="Shape 12"/>
          <p:cNvSpPr/>
          <p:nvPr/>
        </p:nvSpPr>
        <p:spPr>
          <a:xfrm>
            <a:off x="5766664" y="262432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icons/server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672" y="2782336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58588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231740" y="377647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pic>
        <p:nvPicPr>
          <p:cNvPr id="22" name="Image 5" descr="icons/arrowright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396" y="3227832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289140" y="2331720"/>
            <a:ext cx="1874520" cy="2011680"/>
          </a:xfrm>
          <a:prstGeom prst="roundRect">
            <a:avLst>
              <a:gd name="adj" fmla="val 4390"/>
            </a:avLst>
          </a:prstGeom>
          <a:solidFill>
            <a:srgbClr val="1C7293"/>
          </a:solidFill>
          <a:ln/>
        </p:spPr>
      </p:sp>
      <p:sp>
        <p:nvSpPr>
          <p:cNvPr id="24" name="Shape 16"/>
          <p:cNvSpPr/>
          <p:nvPr/>
        </p:nvSpPr>
        <p:spPr>
          <a:xfrm>
            <a:off x="7897216" y="262432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icons/react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224" y="2782336"/>
            <a:ext cx="342351" cy="34235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289140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7362292" y="377647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pic>
        <p:nvPicPr>
          <p:cNvPr id="28" name="Image 7" descr="icons/arrowright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227832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419692" y="2331720"/>
            <a:ext cx="1874520" cy="2011680"/>
          </a:xfrm>
          <a:prstGeom prst="roundRect">
            <a:avLst>
              <a:gd name="adj" fmla="val 4390"/>
            </a:avLst>
          </a:prstGeom>
          <a:solidFill>
            <a:srgbClr val="065A82"/>
          </a:solidFill>
          <a:ln/>
        </p:spPr>
      </p:sp>
      <p:sp>
        <p:nvSpPr>
          <p:cNvPr id="30" name="Shape 20"/>
          <p:cNvSpPr/>
          <p:nvPr/>
        </p:nvSpPr>
        <p:spPr>
          <a:xfrm>
            <a:off x="10027768" y="262432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icons/brain_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5776" y="2782336"/>
            <a:ext cx="342351" cy="342351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419692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500" dirty="0"/>
          </a:p>
        </p:txBody>
      </p:sp>
      <p:sp>
        <p:nvSpPr>
          <p:cNvPr id="33" name="Text 22"/>
          <p:cNvSpPr txBox="1"/>
          <p:nvPr/>
        </p:nvSpPr>
        <p:spPr>
          <a:xfrm>
            <a:off x="9492844" y="377647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822960" y="489204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1097280" y="50749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the five stages sit two more disciplines every real deployment needs: a Data Engineering layer (validation, quality gates, Airflow orchestration, PySpark at scale) and a UI that turns every prediction into an action a retention agent can take today.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23545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ile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869" y="24752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CSV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850" dirty="0"/>
          </a:p>
        </p:txBody>
      </p:sp>
      <p:pic>
        <p:nvPicPr>
          <p:cNvPr id="9" name="Image 1" descr="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902" y="2532888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8810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45308" y="23545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009" y="24752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3382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243382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</a:t>
            </a:r>
            <a:endParaRPr lang="en-US" sz="850" dirty="0"/>
          </a:p>
        </p:txBody>
      </p:sp>
      <p:pic>
        <p:nvPicPr>
          <p:cNvPr id="15" name="Image 3" descr="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042" y="2532888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8924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346448" y="23545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149" y="247528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93496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393496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CustomerCleaner</a:t>
            </a:r>
            <a:endParaRPr lang="en-US" sz="850" dirty="0"/>
          </a:p>
        </p:txBody>
      </p:sp>
      <p:pic>
        <p:nvPicPr>
          <p:cNvPr id="21" name="Image 5" descr="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182" y="2532888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39038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847588" y="23545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6" descr="icons/lay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8289" y="2475281"/>
            <a:ext cx="261518" cy="26151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43610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Store</a:t>
            </a:r>
            <a:endParaRPr lang="en-US" sz="1150" dirty="0"/>
          </a:p>
        </p:txBody>
      </p:sp>
      <p:sp>
        <p:nvSpPr>
          <p:cNvPr id="26" name="Text 17"/>
          <p:cNvSpPr txBox="1"/>
          <p:nvPr/>
        </p:nvSpPr>
        <p:spPr>
          <a:xfrm>
            <a:off x="543610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</a:t>
            </a:r>
            <a:endParaRPr lang="en-US" sz="850" dirty="0"/>
          </a:p>
        </p:txBody>
      </p:sp>
      <p:pic>
        <p:nvPicPr>
          <p:cNvPr id="27" name="Image 7" descr="icons/arrowrigh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7322" y="2532888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89152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7348728" y="23545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8" descr="icons/brain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9429" y="2475281"/>
            <a:ext cx="261518" cy="26151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3724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Scoring</a:t>
            </a:r>
            <a:endParaRPr lang="en-US" sz="1150" dirty="0"/>
          </a:p>
        </p:txBody>
      </p:sp>
      <p:sp>
        <p:nvSpPr>
          <p:cNvPr id="32" name="Text 21"/>
          <p:cNvSpPr txBox="1"/>
          <p:nvPr/>
        </p:nvSpPr>
        <p:spPr>
          <a:xfrm>
            <a:off x="693724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table</a:t>
            </a:r>
            <a:endParaRPr lang="en-US" sz="850" dirty="0"/>
          </a:p>
        </p:txBody>
      </p:sp>
      <p:pic>
        <p:nvPicPr>
          <p:cNvPr id="33" name="Image 9" descr="icons/arrowrigh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8462" y="2532888"/>
            <a:ext cx="164592" cy="16459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839266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8849868" y="23545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36" name="Image 10" descr="icons/server_d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0569" y="2475281"/>
            <a:ext cx="261518" cy="26151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43838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150" dirty="0"/>
          </a:p>
        </p:txBody>
      </p:sp>
      <p:sp>
        <p:nvSpPr>
          <p:cNvPr id="38" name="Text 25"/>
          <p:cNvSpPr txBox="1"/>
          <p:nvPr/>
        </p:nvSpPr>
        <p:spPr>
          <a:xfrm>
            <a:off x="843838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</p:txBody>
      </p:sp>
      <p:pic>
        <p:nvPicPr>
          <p:cNvPr id="39" name="Image 11" descr="icons/arrowright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9602" y="2532888"/>
            <a:ext cx="164592" cy="164592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9893808" y="2148840"/>
            <a:ext cx="1417320" cy="1554480"/>
          </a:xfrm>
          <a:prstGeom prst="roundRect">
            <a:avLst>
              <a:gd name="adj" fmla="val 4516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10351008" y="23545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42" name="Image 12" descr="icons/react_dar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71709" y="2475281"/>
            <a:ext cx="261518" cy="261518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9939528" y="2990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4" name="Text 29"/>
          <p:cNvSpPr txBox="1"/>
          <p:nvPr/>
        </p:nvSpPr>
        <p:spPr>
          <a:xfrm>
            <a:off x="9939528" y="3291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45" name="Shape 30"/>
          <p:cNvSpPr/>
          <p:nvPr/>
        </p:nvSpPr>
        <p:spPr>
          <a:xfrm>
            <a:off x="886968" y="4023360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</p:sp>
      <p:pic>
        <p:nvPicPr>
          <p:cNvPr id="46" name="Image 13" descr="icons/airflow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560" y="4123944"/>
            <a:ext cx="365760" cy="365760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1554480" y="402336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orchestrates every stage daily  ·  quality gates block bad data before it reaches ML or the API</a:t>
            </a:r>
            <a:endParaRPr lang="en-US" sz="1200" dirty="0"/>
          </a:p>
        </p:txBody>
      </p:sp>
      <p:sp>
        <p:nvSpPr>
          <p:cNvPr id="48" name="Text 32"/>
          <p:cNvSpPr txBox="1"/>
          <p:nvPr/>
        </p:nvSpPr>
        <p:spPr>
          <a:xfrm>
            <a:off x="886968" y="4846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886968" y="5148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never creates duplicates</a:t>
            </a:r>
            <a:endParaRPr lang="en-US" sz="1050" dirty="0"/>
          </a:p>
        </p:txBody>
      </p:sp>
      <p:sp>
        <p:nvSpPr>
          <p:cNvPr id="50" name="Text 34"/>
          <p:cNvSpPr txBox="1"/>
          <p:nvPr/>
        </p:nvSpPr>
        <p:spPr>
          <a:xfrm>
            <a:off x="4407408" y="4846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Quality-gated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4407408" y="5148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automated checks before scoring</a:t>
            </a:r>
            <a:endParaRPr lang="en-US" sz="1050" dirty="0"/>
          </a:p>
        </p:txBody>
      </p:sp>
      <p:sp>
        <p:nvSpPr>
          <p:cNvPr id="52" name="Text 36"/>
          <p:cNvSpPr txBox="1"/>
          <p:nvPr/>
        </p:nvSpPr>
        <p:spPr>
          <a:xfrm>
            <a:off x="7927848" y="4846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Scale-ready</a:t>
            </a:r>
            <a:endParaRPr lang="en-US" sz="1300" dirty="0"/>
          </a:p>
        </p:txBody>
      </p:sp>
      <p:sp>
        <p:nvSpPr>
          <p:cNvPr id="53" name="Text 37"/>
          <p:cNvSpPr txBox="1"/>
          <p:nvPr/>
        </p:nvSpPr>
        <p:spPr>
          <a:xfrm>
            <a:off x="7927848" y="5148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runs on PySpark</a:t>
            </a:r>
            <a:endParaRPr lang="en-US" sz="1050" dirty="0"/>
          </a:p>
        </p:txBody>
      </p:sp>
      <p:sp>
        <p:nvSpPr>
          <p:cNvPr id="54" name="Text 3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Real-World Telecom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starts from the IBM/Telco Customer Churn dataset — a realistic customer-state snapshot, not a toy sample.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73.5% / 26.5%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churned split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1031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MB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footprint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074420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" y="45491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4735678"/>
            <a:ext cx="404165" cy="40416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874520" y="42519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issues were found, diagnosed, and fixed — not ignored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874520" y="4681728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arrives as a text column with 11 blank values for brand-new customers (tenure = 0). The pipeline detects this during profiling, converts it safely with pd.to_numeric(errors="coerce"), and fills the gap using each customer’s monthly charge — a business-justified rule, not a guess.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· DATA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Extract to Trusted Feature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744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205740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540" y="2184684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Validate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2020824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daily file is schema-checked before it touches the staging table — mismatches are rejected and logged, never silently loaded.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0744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5256" y="289864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40" y="3025932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2862072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CustomerCleaner class standardizes columns, fixes types, and encodes Yes/No fields — written once, imported everywhere downstream.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48456"/>
            <a:ext cx="10744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5256" y="373989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40" y="3867180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721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114800" y="3703320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derived signals — tenure buckets, service count, auto-pay flag, and more — are computed consistently on every run.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0744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5256" y="458114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40" y="4708428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5628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114800" y="4544568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automated checks (nulls, ranges, duplicates, distribution) run before any data reaches ML or the API; critical failures halt the pipeline.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330952"/>
            <a:ext cx="107442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05256" y="542239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0" y="5549676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54041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114800" y="5385816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Airflow DAG chains ingest → validate → clean → features → upsert → notify, on a daily schedule, with automatic failure propagation.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· DATABASE &amp;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Data, Served Instantly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18973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20619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38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862072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27157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dimension → fact schema, decomposed from the flat 21-column CSV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3639312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4930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models with sessions for typed, Pythonic queries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4416552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2702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v_high_risk_customers VIEW ships before the ML model does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5193792"/>
            <a:ext cx="82296" cy="822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50474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question answered twice: once in pandas, once in SQL — and cross-validated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1600200"/>
            <a:ext cx="5623560" cy="4480560"/>
          </a:xfrm>
          <a:prstGeom prst="roundRect">
            <a:avLst>
              <a:gd name="adj" fmla="val 1837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7940" y="18973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2061972"/>
            <a:ext cx="356616" cy="35661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 — FastAPI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55080" y="27432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65A8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355080" y="27432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7114032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/customer/{id}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114032" y="3035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lookup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355080" y="340156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65A8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55080" y="34015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114032" y="3374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/churn/summary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114032" y="36941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355080" y="405993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65A8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355080" y="40599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7114032" y="4032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/customers/high-risk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7114032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outreach list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355080" y="471830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065A8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355080" y="471830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7114032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/customer/{id}/features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7114032" y="5010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 vector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355080" y="537667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4572E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355080" y="53766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7114032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/predict-churn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7114032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score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6355080" y="6080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with field-level validation, structured error responses, and X-API-Key token auth.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· FRONTEND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Retention Teams Actually 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focused React pages, each consuming the API in real time — no manual exports, no stale reports.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3748" y="21488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748" y="2148840"/>
            <a:ext cx="251460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592428" y="25831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965" y="276971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090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Search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906628" y="40690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any customer instantly; profile card is color-coded by churn status.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66948" y="21488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66948" y="2148840"/>
            <a:ext cx="251460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4335628" y="25831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165" y="276971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0410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Summary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649828" y="40690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— total customers, churn rate, and a contract-type breakdown with proportional bars.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0148" y="21488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0148" y="2148840"/>
            <a:ext cx="251460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9" name="Shape 15"/>
          <p:cNvSpPr/>
          <p:nvPr/>
        </p:nvSpPr>
        <p:spPr>
          <a:xfrm>
            <a:off x="7078828" y="25831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365" y="276971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4730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List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6393028" y="40690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Sortable, paginated outreach list pulled straight from the rule-based risk view.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953348" y="214884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53348" y="2148840"/>
            <a:ext cx="251460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5" name="Shape 20"/>
          <p:cNvSpPr/>
          <p:nvPr/>
        </p:nvSpPr>
        <p:spPr>
          <a:xfrm>
            <a:off x="9822028" y="25831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3" descr="icons/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565" y="2769718"/>
            <a:ext cx="404165" cy="40416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9050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Tool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136228" y="40690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enters customer details, posts to /predict-churn, and gets an instant color-coded risk score.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· 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Churn Before It Happens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669280" cy="13716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Val.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 F1 (Churn)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80/20 + 5-fold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0.56 – 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(depth 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3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80/20 + 5-fold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0.55 – 0.62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520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F1 for the churned class, not raw accuracy — a model that predicts "no churn" for everyone would score 73.5% accuracy while catching zero at-risk customers.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5669280" cy="1691640"/>
          </a:xfrm>
          <a:prstGeom prst="roundRect">
            <a:avLst>
              <a:gd name="adj" fmla="val 432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590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black box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377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and feature importances are extracted and ranked, then translated into plain language a retention manager can act on — every prediction is explainable.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0" y="1554480"/>
            <a:ext cx="5074920" cy="4572000"/>
          </a:xfrm>
          <a:prstGeom prst="roundRect">
            <a:avLst>
              <a:gd name="adj" fmla="val 1800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Churn Drivers Identified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0372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037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Month-to-month contract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2670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predictor of churn risk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32186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0372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tenure (&lt; 12 months)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35112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well above the base rate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40599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0372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54380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check payment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43525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strongly with higher churn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0" y="4946904"/>
            <a:ext cx="4572000" cy="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512978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segment: month-to-month + fiber optic customers — confirmed by cross-checking ML scores against the rule-based SQL view.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Risk Concentrates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866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086600" y="2103120"/>
            <a:ext cx="452628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21945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nearly 15x the rate of two-year contract holders.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86600" y="3154680"/>
            <a:ext cx="452628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32461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month-to-month contract + fiber optic internet is the single highest-risk segment in the base.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4206240"/>
            <a:ext cx="452628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42976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their first 12 months churn the most — the earliest window is also the highest-leverage one.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86600" y="5257800"/>
            <a:ext cx="452628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53492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same patterns are verified twice: once in a pandas groupby, once in a SQL GROUP BY — both agree.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to Scale, Not Just to Demo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this system was built the way a production team would build it — with the safeguards that separate a working prototype from something you can trust with real customers.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3748" y="233172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5288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sp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852" y="29187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090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Processing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aggregations run in PySpark and produce identical results to pandas — proof the logic scales past a single laptop.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6948" y="233172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8488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052" y="29187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410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Quality Gates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649828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checks — nulls, ranges, allowed values, duplicates — run before data reaches ML or the API. Critical failures stop the pipeline.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0148" y="233172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01688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252" y="291876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4730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Structured Errors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393028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API-key auth, field-level validation, and a consistent error response shape across every endpoint.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53348" y="233172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F2E52"/>
          </a:solidFill>
          <a:ln w="12700">
            <a:solidFill>
              <a:srgbClr val="1E3F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44888" y="2743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452" y="291876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9050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&amp; Incremental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136228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logic handles new, updated, and unchanged customers — re-running the pipeline never creates duplicates.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Stack, Modern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here was chosen because it is what real teams run in production — not a simplified stand-in.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4040" y="22860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1864" y="2523744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039" y="2694920"/>
            <a:ext cx="370881" cy="3708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54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98952" y="22860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76776" y="2523744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panda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951" y="2694920"/>
            <a:ext cx="370881" cy="37088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0392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23864" y="22860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01688" y="2523744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postgr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863" y="2694920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15304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/ SQLAlchemy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948776" y="22860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26600" y="2523744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icons/fastap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7775" y="2694920"/>
            <a:ext cx="370881" cy="37088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216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74040" y="42062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651864" y="4443984"/>
            <a:ext cx="713232" cy="71323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4" descr="icons/reactsi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039" y="4615160"/>
            <a:ext cx="370881" cy="37088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65480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498952" y="42062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76776" y="4443984"/>
            <a:ext cx="713232" cy="71323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7" name="Image 5" descr="icons/airfl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7951" y="4615160"/>
            <a:ext cx="370881" cy="37088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590392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223864" y="42062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101688" y="4443984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6" descr="icons/spar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863" y="4615160"/>
            <a:ext cx="370881" cy="37088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15304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8948776" y="42062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8FB"/>
          </a:solidFill>
          <a:ln w="12700">
            <a:solidFill>
              <a:srgbClr val="DCE7EE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826600" y="4443984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7" descr="icons/sklear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7775" y="4615160"/>
            <a:ext cx="370881" cy="370881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040216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SYSTEM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Your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308" y="192024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0B2340"/>
          </a:solidFill>
          <a:ln/>
        </p:spPr>
      </p:sp>
      <p:sp>
        <p:nvSpPr>
          <p:cNvPr id="5" name="Shape 3"/>
          <p:cNvSpPr/>
          <p:nvPr/>
        </p:nvSpPr>
        <p:spPr>
          <a:xfrm>
            <a:off x="1935328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in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838" y="25749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518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Churn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06628" y="39319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 daily risk score instead of a quarterly report. The highest-risk segment is flagged before the cancellation call, not after.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1348" y="192024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0B2340"/>
          </a:solidFill>
          <a:ln/>
        </p:spPr>
      </p:sp>
      <p:sp>
        <p:nvSpPr>
          <p:cNvPr id="10" name="Shape 7"/>
          <p:cNvSpPr/>
          <p:nvPr/>
        </p:nvSpPr>
        <p:spPr>
          <a:xfrm>
            <a:off x="5684368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878" y="25749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422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Operating Time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55668" y="39319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replaces manual SQL pulls and spreadsheet exports — support, retention, and leadership all read from the same live numbers.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0388" y="192024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0B2340"/>
          </a:solidFill>
          <a:ln/>
        </p:spPr>
      </p:sp>
      <p:sp>
        <p:nvSpPr>
          <p:cNvPr id="15" name="Shape 11"/>
          <p:cNvSpPr/>
          <p:nvPr/>
        </p:nvSpPr>
        <p:spPr>
          <a:xfrm>
            <a:off x="9433408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918" y="25749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1326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Scale-Ready From Day One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04708" y="39319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that runs on 7,043 customers today is proven to run on PySpark — no rebuild needed to grow into millions of rows.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57150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0B2340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97280" y="57150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today: a rule-based safety net your team can act on immediately (SQL6 view)  +  an ML-powered engine for tomorrow (daily batch scoring, ML5).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F2E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Put This to Work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Customer Data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same discipline — pointed at your live CRM extract instead of a sample dataset. From raw records to a retention team’s daily action list.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2026-09-14T09:26:21Z</dcterms:created>
  <dcterms:modified xsi:type="dcterms:W3CDTF">2026-09-14T09:26:21Z</dcterms:modified>
</cp:coreProperties>
</file>